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DD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81160" y="685800"/>
            <a:ext cx="384048" cy="1234440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51392" y="1106424"/>
            <a:ext cx="1243584" cy="384048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458200" y="2926080"/>
            <a:ext cx="685800" cy="0"/>
          </a:xfrm>
          <a:prstGeom prst="line">
            <a:avLst/>
          </a:prstGeom>
          <a:ln w="38100">
            <a:solidFill>
              <a:srgbClr val="E86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144000" y="2423160"/>
            <a:ext cx="274320" cy="502920"/>
          </a:xfrm>
          <a:prstGeom prst="line">
            <a:avLst/>
          </a:prstGeom>
          <a:ln w="38100">
            <a:solidFill>
              <a:srgbClr val="E86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18320" y="2423160"/>
            <a:ext cx="320040" cy="1280160"/>
          </a:xfrm>
          <a:prstGeom prst="line">
            <a:avLst/>
          </a:prstGeom>
          <a:ln w="38100">
            <a:solidFill>
              <a:srgbClr val="E86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738360" y="2788920"/>
            <a:ext cx="320040" cy="914400"/>
          </a:xfrm>
          <a:prstGeom prst="line">
            <a:avLst/>
          </a:prstGeom>
          <a:ln w="38100">
            <a:solidFill>
              <a:srgbClr val="E86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0" y="2788920"/>
            <a:ext cx="256032" cy="137160"/>
          </a:xfrm>
          <a:prstGeom prst="line">
            <a:avLst/>
          </a:prstGeom>
          <a:ln w="38100">
            <a:solidFill>
              <a:srgbClr val="E86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314432" y="2926080"/>
            <a:ext cx="1161288" cy="0"/>
          </a:xfrm>
          <a:prstGeom prst="line">
            <a:avLst/>
          </a:prstGeom>
          <a:ln w="38100">
            <a:solidFill>
              <a:srgbClr val="E86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566928"/>
            <a:ext cx="6217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1A8782"/>
                </a:solidFill>
                <a:latin typeface="Aptos"/>
              </a:rPr>
              <a:t>DIGITAL SYSTEMS • 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34440"/>
            <a:ext cx="7040880" cy="1920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63044"/>
                </a:solidFill>
                <a:latin typeface="Aptos"/>
              </a:rPr>
              <a:t>Design and Simulation of a Digital Patient Emergency Alarm and Alert System Using Combinational Logic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401568"/>
            <a:ext cx="1051560" cy="73152"/>
          </a:xfrm>
          <a:prstGeom prst="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675887"/>
            <a:ext cx="6492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687980"/>
                </a:solidFill>
                <a:latin typeface="Aptos"/>
              </a:rPr>
              <a:t>A logic-based alert system for rapid emergency indication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37083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1A8782"/>
                </a:solidFill>
                <a:latin typeface="Aptos"/>
              </a:rPr>
              <a:t>PROJECT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718304"/>
            <a:ext cx="63093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736592"/>
            <a:ext cx="5943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A3B44"/>
                </a:solidFill>
                <a:latin typeface="Aptos"/>
              </a:rPr>
              <a:t>P. Saikeerthana  —  2620030616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5102352"/>
            <a:ext cx="63093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120640"/>
            <a:ext cx="5943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A3B44"/>
                </a:solidFill>
                <a:latin typeface="Aptos"/>
              </a:rPr>
              <a:t>B. Vaishnavi  —  2620030613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86400"/>
            <a:ext cx="63093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504688"/>
            <a:ext cx="5943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A3B44"/>
                </a:solidFill>
                <a:latin typeface="Aptos"/>
              </a:rPr>
              <a:t>S. Lasyapriya  —  2620030612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870448"/>
            <a:ext cx="63093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888736"/>
            <a:ext cx="5943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A3B44"/>
                </a:solidFill>
                <a:latin typeface="Aptos"/>
              </a:rPr>
              <a:t>P.D.N.S. Samhitha  —  2620040154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572000"/>
            <a:ext cx="32461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163044"/>
                </a:solidFill>
                <a:latin typeface="Aptos"/>
              </a:rPr>
              <a:t>DESIGN  •  SIMULATE  • 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5138928"/>
            <a:ext cx="32461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1A8782"/>
                </a:solidFill>
                <a:latin typeface="Aptos"/>
              </a:rPr>
              <a:t>Combinational logic | Logisim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63044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7315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A8782"/>
                </a:solidFill>
                <a:latin typeface="Aptos"/>
              </a:rPr>
              <a:t>01 •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E8695B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87980"/>
                </a:solidFill>
                <a:latin typeface="Aptos"/>
              </a:rPr>
              <a:t>DIGITAL PATIENT EMERGENCY ALARM  •  COMBINATIONAL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5204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91440" cy="1874519"/>
          </a:xfrm>
          <a:prstGeom prst="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490472"/>
            <a:ext cx="31363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The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892807"/>
            <a:ext cx="3136392" cy="12161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A patient may need immediate attention when an emergency condition is detected.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91440" cy="1874519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490472"/>
            <a:ext cx="31363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Our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892807"/>
            <a:ext cx="3136392" cy="12161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Use digital inputs and combinational logic to generate an alert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5204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91440" cy="1874519"/>
          </a:xfrm>
          <a:prstGeom prst="rect">
            <a:avLst/>
          </a:prstGeom>
          <a:solidFill>
            <a:srgbClr val="F2B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490472"/>
            <a:ext cx="31363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Expected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892807"/>
            <a:ext cx="3136392" cy="12161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A clear, testable logic circuit whose output follows the defined input conditions.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03320"/>
            <a:ext cx="106984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163044"/>
                </a:solidFill>
                <a:latin typeface="Aptos"/>
              </a:rPr>
              <a:t>Project 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1051560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0">
                <a:solidFill>
                  <a:srgbClr val="2A3B44"/>
                </a:solidFill>
                <a:latin typeface="Aptos"/>
              </a:rPr>
              <a:t>To design and simulate a simple digital emergency alarm that combines patient-condition signals and activates an alert when a specified emergency condition is present.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532120"/>
            <a:ext cx="10789920" cy="566928"/>
          </a:xfrm>
          <a:prstGeom prst="roundRect">
            <a:avLst/>
          </a:prstGeom>
          <a:solidFill>
            <a:srgbClr val="DD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41848"/>
            <a:ext cx="102412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163044"/>
                </a:solidFill>
                <a:latin typeface="Aptos"/>
              </a:rPr>
              <a:t>Scope: educational prototype only — not a certified medical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63044"/>
                </a:solidFill>
                <a:latin typeface="Aptos"/>
              </a:rPr>
              <a:t>Course outcomes (CO1–CO6)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7315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A8782"/>
                </a:solidFill>
                <a:latin typeface="Aptos"/>
              </a:rPr>
              <a:t>02 • OUTCOME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E8695B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87980"/>
                </a:solidFill>
                <a:latin typeface="Aptos"/>
              </a:rPr>
              <a:t>DIGITAL PATIENT EMERGENCY ALARM  •  COMBINATIONAL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80160"/>
            <a:ext cx="525780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280160"/>
            <a:ext cx="91440" cy="1261872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44751"/>
            <a:ext cx="487375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CO1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4873752" cy="60350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A3B44"/>
                </a:solidFill>
                <a:latin typeface="Aptos"/>
              </a:rPr>
              <a:t>Understand the problem and represent emergency conditions as binary inputs.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280160"/>
            <a:ext cx="525780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280160"/>
            <a:ext cx="91440" cy="1261872"/>
          </a:xfrm>
          <a:prstGeom prst="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44751"/>
            <a:ext cx="487375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CO2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47088"/>
            <a:ext cx="4873752" cy="60350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A3B44"/>
                </a:solidFill>
                <a:latin typeface="Aptos"/>
              </a:rPr>
              <a:t>Translate the required alert behaviour into a truth table and Boolean expression.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52928"/>
            <a:ext cx="525780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852928"/>
            <a:ext cx="91440" cy="1261872"/>
          </a:xfrm>
          <a:prstGeom prst="rect">
            <a:avLst/>
          </a:prstGeom>
          <a:solidFill>
            <a:srgbClr val="F2B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17520"/>
            <a:ext cx="487375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CO3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19856"/>
            <a:ext cx="4873752" cy="60350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A3B44"/>
                </a:solidFill>
                <a:latin typeface="Aptos"/>
              </a:rPr>
              <a:t>Design the combinational circuit using logic gates and interconnections.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2852928"/>
            <a:ext cx="525780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2852928"/>
            <a:ext cx="91440" cy="1261872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017520"/>
            <a:ext cx="487375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CO4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19856"/>
            <a:ext cx="4873752" cy="60350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A3B44"/>
                </a:solidFill>
                <a:latin typeface="Aptos"/>
              </a:rPr>
              <a:t>Use Boolean simplification and standard logic blocks to make the circuit clear.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425696"/>
            <a:ext cx="525780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425696"/>
            <a:ext cx="91440" cy="1261872"/>
          </a:xfrm>
          <a:prstGeom prst="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90288"/>
            <a:ext cx="487375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CO5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92624"/>
            <a:ext cx="4873752" cy="60350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A3B44"/>
                </a:solidFill>
                <a:latin typeface="Aptos"/>
              </a:rPr>
              <a:t>Simulate the circuit, test input combinations and verify the output.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4425696"/>
            <a:ext cx="525780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4425696"/>
            <a:ext cx="91440" cy="1261872"/>
          </a:xfrm>
          <a:prstGeom prst="rect">
            <a:avLst/>
          </a:prstGeom>
          <a:solidFill>
            <a:srgbClr val="F2B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590288"/>
            <a:ext cx="487375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CO6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92624"/>
            <a:ext cx="4873752" cy="60350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A3B44"/>
                </a:solidFill>
                <a:latin typeface="Aptos"/>
              </a:rPr>
              <a:t>Evaluate the design, explain limitations and suggest practical extensions.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63044"/>
                </a:solidFill>
                <a:latin typeface="Aptos"/>
              </a:rPr>
              <a:t>System inputs and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7315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A8782"/>
                </a:solidFill>
                <a:latin typeface="Aptos"/>
              </a:rPr>
              <a:t>03 • FUNCTIONAL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E8695B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87980"/>
                </a:solidFill>
                <a:latin typeface="Aptos"/>
              </a:rPr>
              <a:t>DIGITAL PATIENT EMERGENCY ALARM  •  COMBINATIONAL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48463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163044"/>
                </a:solidFill>
                <a:latin typeface="Aptos"/>
              </a:rPr>
              <a:t>Binary input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685800" cy="685800"/>
          </a:xfrm>
          <a:prstGeom prst="round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56231"/>
            <a:ext cx="6858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10512"/>
            <a:ext cx="32004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2A3B44"/>
                </a:solidFill>
                <a:latin typeface="Aptos"/>
              </a:rPr>
              <a:t>Emergency button pressed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67128"/>
            <a:ext cx="3200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87980"/>
                </a:solidFill>
                <a:latin typeface="Aptos"/>
              </a:rPr>
              <a:t>1 = pressed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62072"/>
            <a:ext cx="685800" cy="685800"/>
          </a:xfrm>
          <a:prstGeom prst="round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35224"/>
            <a:ext cx="6858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889503"/>
            <a:ext cx="32004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2A3B44"/>
                </a:solidFill>
                <a:latin typeface="Aptos"/>
              </a:rPr>
              <a:t>Vital sign out of safe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246120"/>
            <a:ext cx="3200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87980"/>
                </a:solidFill>
                <a:latin typeface="Aptos"/>
              </a:rPr>
              <a:t>1 = abnormal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41063"/>
            <a:ext cx="685800" cy="685800"/>
          </a:xfrm>
          <a:prstGeom prst="roundRect">
            <a:avLst/>
          </a:prstGeom>
          <a:solidFill>
            <a:srgbClr val="F2B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14215"/>
            <a:ext cx="6858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968496"/>
            <a:ext cx="32004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2A3B44"/>
                </a:solidFill>
                <a:latin typeface="Aptos"/>
              </a:rPr>
              <a:t>Fall / motion alert 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325112"/>
            <a:ext cx="3200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87980"/>
                </a:solidFill>
                <a:latin typeface="Aptos"/>
              </a:rPr>
              <a:t>1 = detected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1874519"/>
            <a:ext cx="19202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2148840"/>
            <a:ext cx="1645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1A8782"/>
                </a:solidFill>
                <a:latin typeface="Aptos"/>
              </a:rPr>
              <a:t>COMBINATIONAL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2514600"/>
            <a:ext cx="1645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300" b="1">
                <a:solidFill>
                  <a:srgbClr val="163044"/>
                </a:solidFill>
                <a:latin typeface="Aptos"/>
              </a:rPr>
              <a:t>LOGIC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34840" y="2121408"/>
            <a:ext cx="1143000" cy="393192"/>
          </a:xfrm>
          <a:prstGeom prst="line">
            <a:avLst/>
          </a:prstGeom>
          <a:ln w="25400">
            <a:solidFill>
              <a:srgbClr val="1A8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434840" y="2834640"/>
            <a:ext cx="1143000" cy="365760"/>
          </a:xfrm>
          <a:prstGeom prst="line">
            <a:avLst/>
          </a:prstGeom>
          <a:ln w="25400">
            <a:solidFill>
              <a:srgbClr val="1A8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434840" y="3246120"/>
            <a:ext cx="1143000" cy="1033272"/>
          </a:xfrm>
          <a:prstGeom prst="line">
            <a:avLst/>
          </a:prstGeom>
          <a:ln w="25400">
            <a:solidFill>
              <a:srgbClr val="1A8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98079" y="2834640"/>
            <a:ext cx="868681" cy="0"/>
          </a:xfrm>
          <a:prstGeom prst="line">
            <a:avLst/>
          </a:prstGeom>
          <a:ln w="38100">
            <a:solidFill>
              <a:srgbClr val="E86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366760" y="2103120"/>
            <a:ext cx="2651760" cy="1463040"/>
          </a:xfrm>
          <a:prstGeom prst="round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331720"/>
            <a:ext cx="22860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ALERT =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834640"/>
            <a:ext cx="2286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Buzzer / 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57800"/>
            <a:ext cx="10515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Output A activates if any one of the defined emergency signals is active.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63044"/>
                </a:solidFill>
                <a:latin typeface="Aptos"/>
              </a:rPr>
              <a:t>Boolean expression and logic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7315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A8782"/>
                </a:solidFill>
                <a:latin typeface="Aptos"/>
              </a:rPr>
              <a:t>04 •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E8695B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87980"/>
                </a:solidFill>
                <a:latin typeface="Aptos"/>
              </a:rPr>
              <a:t>DIGITAL PATIENT EMERGENCY ALARM  •  COMBINATIONAL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43891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163044"/>
                </a:solidFill>
                <a:latin typeface="Aptos"/>
              </a:rPr>
              <a:t>Chosen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66344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0">
                <a:solidFill>
                  <a:srgbClr val="2A3B44"/>
                </a:solidFill>
                <a:latin typeface="Aptos"/>
              </a:rPr>
              <a:t>Raise the alarm whenever E, V or F is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71800"/>
            <a:ext cx="4206240" cy="1051560"/>
          </a:xfrm>
          <a:prstGeom prst="roundRect">
            <a:avLst/>
          </a:prstGeom>
          <a:solidFill>
            <a:srgbClr val="DD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82112"/>
            <a:ext cx="3749039" cy="5943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800" b="1">
                <a:solidFill>
                  <a:srgbClr val="1A8782"/>
                </a:solidFill>
                <a:latin typeface="Aptos"/>
              </a:rPr>
              <a:t>A = E + V + 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43891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687980"/>
                </a:solidFill>
                <a:latin typeface="Aptos"/>
              </a:rPr>
              <a:t>Here “+” means OR, not arithmetic addition.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325880"/>
            <a:ext cx="51206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163044"/>
                </a:solidFill>
                <a:latin typeface="Aptos"/>
              </a:rPr>
              <a:t>Gate-level implementation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2011680"/>
            <a:ext cx="9144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057400"/>
            <a:ext cx="822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>
                <a:solidFill>
                  <a:srgbClr val="163044"/>
                </a:solidFill>
                <a:latin typeface="Aptos"/>
              </a:rPr>
              <a:t>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880360"/>
            <a:ext cx="9144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926080"/>
            <a:ext cx="822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>
                <a:solidFill>
                  <a:srgbClr val="163044"/>
                </a:solidFill>
                <a:latin typeface="Aptos"/>
              </a:rPr>
              <a:t>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3749039"/>
            <a:ext cx="9144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3794760"/>
            <a:ext cx="822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>
                <a:solidFill>
                  <a:srgbClr val="163044"/>
                </a:solidFill>
                <a:latin typeface="Aptos"/>
              </a:rPr>
              <a:t>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2514600"/>
            <a:ext cx="1508760" cy="1188720"/>
          </a:xfrm>
          <a:prstGeom prst="round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816352"/>
            <a:ext cx="12344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3-input
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12280" y="2240280"/>
            <a:ext cx="731520" cy="868680"/>
          </a:xfrm>
          <a:prstGeom prst="line">
            <a:avLst/>
          </a:prstGeom>
          <a:ln w="25400">
            <a:solidFill>
              <a:srgbClr val="1A8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12280" y="3108960"/>
            <a:ext cx="731520" cy="0"/>
          </a:xfrm>
          <a:prstGeom prst="line">
            <a:avLst/>
          </a:prstGeom>
          <a:ln w="25400">
            <a:solidFill>
              <a:srgbClr val="1A8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12280" y="3108960"/>
            <a:ext cx="731520" cy="868679"/>
          </a:xfrm>
          <a:prstGeom prst="line">
            <a:avLst/>
          </a:prstGeom>
          <a:ln w="25400">
            <a:solidFill>
              <a:srgbClr val="1A8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3108960"/>
            <a:ext cx="640080" cy="0"/>
          </a:xfrm>
          <a:prstGeom prst="line">
            <a:avLst/>
          </a:prstGeom>
          <a:ln w="38100">
            <a:solidFill>
              <a:srgbClr val="E86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92640" y="2697480"/>
            <a:ext cx="1508760" cy="822960"/>
          </a:xfrm>
          <a:prstGeom prst="round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880360"/>
            <a:ext cx="13258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ALARM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617720"/>
            <a:ext cx="53035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2A3B44"/>
                </a:solidFill>
                <a:latin typeface="Aptos"/>
              </a:rPr>
              <a:t>If all inputs are 0, A = 0. Otherwise, A =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63044"/>
                </a:solidFill>
                <a:latin typeface="Aptos"/>
              </a:rPr>
              <a:t>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7315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A8782"/>
                </a:solidFill>
                <a:latin typeface="Aptos"/>
              </a:rPr>
              <a:t>05 • EXPECTED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E8695B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87980"/>
                </a:solidFill>
                <a:latin typeface="Aptos"/>
              </a:rPr>
              <a:t>DIGITAL PATIENT EMERGENCY ALARM  •  COMBINATIONAL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A8782"/>
                </a:solidFill>
                <a:latin typeface="Aptos"/>
              </a:rPr>
              <a:t>For A = E OR V OR 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65960" y="1645920"/>
          <a:ext cx="80467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E</a:t>
                      </a:r>
                    </a:p>
                  </a:txBody>
                  <a:tcPr marL="45720" marR="45720"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 marL="45720" marR="45720"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F</a:t>
                      </a:r>
                    </a:p>
                  </a:txBody>
                  <a:tcPr marL="45720" marR="45720"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45720" marR="45720" anchor="ctr">
                    <a:solidFill>
                      <a:srgbClr val="163044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8782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DDF3E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8782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DDF3E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8782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DDF3E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8782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DDF3E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8782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DDF3E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EB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8782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DDF3E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3B44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8782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DDF3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65960" y="6016752"/>
            <a:ext cx="8046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687980"/>
                </a:solidFill>
                <a:latin typeface="Aptos"/>
              </a:rPr>
              <a:t>Only 000 keeps the alarm OFF; the other seven combinations activate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63044"/>
                </a:solidFill>
                <a:latin typeface="Aptos"/>
              </a:rPr>
              <a:t>Simulation workflow in Logisim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7315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A8782"/>
                </a:solidFill>
                <a:latin typeface="Aptos"/>
              </a:rPr>
              <a:t>06 •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E8695B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87980"/>
                </a:solidFill>
                <a:latin typeface="Aptos"/>
              </a:rPr>
              <a:t>DIGITAL PATIENT EMERGENCY ALARM  •  COMBINATIONAL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658368" cy="658368"/>
          </a:xfrm>
          <a:prstGeom prst="round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65836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344168"/>
            <a:ext cx="23317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Place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344168"/>
            <a:ext cx="71323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Three switches: E, V and F.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06424" y="1984248"/>
            <a:ext cx="0" cy="420624"/>
          </a:xfrm>
          <a:prstGeom prst="line">
            <a:avLst/>
          </a:prstGeom>
          <a:ln w="25400">
            <a:solidFill>
              <a:srgbClr val="1A8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2450591"/>
            <a:ext cx="658368" cy="658368"/>
          </a:xfrm>
          <a:prstGeom prst="round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23744"/>
            <a:ext cx="65836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468879"/>
            <a:ext cx="23317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Build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468879"/>
            <a:ext cx="71323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Connect inputs to a 3-input OR gate (or cascade two OR gates).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06424" y="3108959"/>
            <a:ext cx="0" cy="420624"/>
          </a:xfrm>
          <a:prstGeom prst="line">
            <a:avLst/>
          </a:prstGeom>
          <a:ln w="25400">
            <a:solidFill>
              <a:srgbClr val="1A8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3575304"/>
            <a:ext cx="658368" cy="658368"/>
          </a:xfrm>
          <a:prstGeom prst="round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48456"/>
            <a:ext cx="65836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593592"/>
            <a:ext cx="23317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Add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593592"/>
            <a:ext cx="71323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Connect the OR output to an LED or output pin named 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06424" y="4233672"/>
            <a:ext cx="0" cy="420624"/>
          </a:xfrm>
          <a:prstGeom prst="line">
            <a:avLst/>
          </a:prstGeom>
          <a:ln w="25400">
            <a:solidFill>
              <a:srgbClr val="1A8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" y="4700016"/>
            <a:ext cx="658368" cy="658368"/>
          </a:xfrm>
          <a:prstGeom prst="round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73168"/>
            <a:ext cx="65836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718303"/>
            <a:ext cx="23317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Test all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718303"/>
            <a:ext cx="71323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Toggle all 8 combinations and compare A with the truth table.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897880"/>
            <a:ext cx="10561320" cy="384048"/>
          </a:xfrm>
          <a:prstGeom prst="roundRect">
            <a:avLst/>
          </a:prstGeom>
          <a:solidFill>
            <a:srgbClr val="DD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925312"/>
            <a:ext cx="10241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163044"/>
                </a:solidFill>
                <a:latin typeface="Aptos"/>
              </a:rPr>
              <a:t>Expected simulation result: A follows E ∨ V ∨ F immediately as switches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63044"/>
                </a:solidFill>
                <a:latin typeface="Aptos"/>
              </a:rPr>
              <a:t>Verification and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7315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A8782"/>
                </a:solidFill>
                <a:latin typeface="Aptos"/>
              </a:rPr>
              <a:t>07 •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E8695B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87980"/>
                </a:solidFill>
                <a:latin typeface="Aptos"/>
              </a:rPr>
              <a:t>DIGITAL PATIENT EMERGENCY ALARM  •  COMBINATIONAL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163044"/>
                </a:solidFill>
                <a:latin typeface="Aptos"/>
              </a:rPr>
              <a:t>Representative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52760" cy="621792"/>
          </a:xfrm>
          <a:prstGeom prst="roundRect">
            <a:avLst/>
          </a:prstGeom>
          <a:solidFill>
            <a:srgbClr val="DD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4231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63044"/>
                </a:solidFill>
                <a:latin typeface="Aptos"/>
              </a:rPr>
              <a:t>E=0, V=0, F=0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20240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A8782"/>
                </a:solidFill>
                <a:latin typeface="Aptos"/>
              </a:rPr>
              <a:t>A=0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6400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A3B44"/>
                </a:solidFill>
                <a:latin typeface="Aptos"/>
              </a:rPr>
              <a:t>No emergency signal; alarm remains 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78608"/>
            <a:ext cx="10652760" cy="621792"/>
          </a:xfrm>
          <a:prstGeom prst="roundRect">
            <a:avLst/>
          </a:prstGeom>
          <a:solidFill>
            <a:srgbClr val="EB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15768"/>
            <a:ext cx="24231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63044"/>
                </a:solidFill>
                <a:latin typeface="Aptos"/>
              </a:rPr>
              <a:t>E=1, V=0, F=0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715768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A8782"/>
                </a:solidFill>
                <a:latin typeface="Aptos"/>
              </a:rPr>
              <a:t>A=1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15768"/>
            <a:ext cx="6400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A3B44"/>
                </a:solidFill>
                <a:latin typeface="Aptos"/>
              </a:rPr>
              <a:t>Manual emergency button activates alert.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74136"/>
            <a:ext cx="10652760" cy="621792"/>
          </a:xfrm>
          <a:prstGeom prst="roundRect">
            <a:avLst/>
          </a:prstGeom>
          <a:solidFill>
            <a:srgbClr val="EB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11296"/>
            <a:ext cx="24231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63044"/>
                </a:solidFill>
                <a:latin typeface="Aptos"/>
              </a:rPr>
              <a:t>E=0, V=1, F=0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511296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A8782"/>
                </a:solidFill>
                <a:latin typeface="Aptos"/>
              </a:rPr>
              <a:t>A=1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11296"/>
            <a:ext cx="6400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A3B44"/>
                </a:solidFill>
                <a:latin typeface="Aptos"/>
              </a:rPr>
              <a:t>Abnormal vital-sign signal activates alert.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69663"/>
            <a:ext cx="10652760" cy="621792"/>
          </a:xfrm>
          <a:prstGeom prst="roundRect">
            <a:avLst/>
          </a:prstGeom>
          <a:solidFill>
            <a:srgbClr val="EB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06824"/>
            <a:ext cx="24231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63044"/>
                </a:solidFill>
                <a:latin typeface="Aptos"/>
              </a:rPr>
              <a:t>E=0, V=0, F=1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306824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A8782"/>
                </a:solidFill>
                <a:latin typeface="Aptos"/>
              </a:rPr>
              <a:t>A=1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06824"/>
            <a:ext cx="6400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A3B44"/>
                </a:solidFill>
                <a:latin typeface="Aptos"/>
              </a:rPr>
              <a:t>Fall signal activates alert.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65192"/>
            <a:ext cx="10652760" cy="621792"/>
          </a:xfrm>
          <a:prstGeom prst="roundRect">
            <a:avLst/>
          </a:prstGeom>
          <a:solidFill>
            <a:srgbClr val="EB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02352"/>
            <a:ext cx="24231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63044"/>
                </a:solidFill>
                <a:latin typeface="Aptos"/>
              </a:rPr>
              <a:t>E=1, V=1, F=1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102352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A8782"/>
                </a:solidFill>
                <a:latin typeface="Aptos"/>
              </a:rPr>
              <a:t>A=1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102352"/>
            <a:ext cx="6400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A3B44"/>
                </a:solidFill>
                <a:latin typeface="Aptos"/>
              </a:rPr>
              <a:t>Multiple emergency signals still give one active output.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E8695B"/>
                </a:solidFill>
                <a:latin typeface="Aptos"/>
              </a:rPr>
              <a:t>Record the observed LED state for every row in the final Logisim 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63044"/>
                </a:solidFill>
                <a:latin typeface="Aptos"/>
              </a:rPr>
              <a:t>Why this is combinational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7315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A8782"/>
                </a:solidFill>
                <a:latin typeface="Aptos"/>
              </a:rPr>
              <a:t>08 •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E8695B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87980"/>
                </a:solidFill>
                <a:latin typeface="Aptos"/>
              </a:rPr>
              <a:t>DIGITAL PATIENT EMERGENCY ALARM  •  COMBINATIONAL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91440" cy="1828800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81912"/>
            <a:ext cx="299923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No stored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2999232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The output depends only on the current values of E, V and 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91440" cy="1828800"/>
          </a:xfrm>
          <a:prstGeom prst="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581912"/>
            <a:ext cx="299923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OR 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984248"/>
            <a:ext cx="2999232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Any active emergency input makes the output active.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91440" cy="1828800"/>
          </a:xfrm>
          <a:prstGeom prst="rect">
            <a:avLst/>
          </a:prstGeom>
          <a:solidFill>
            <a:srgbClr val="F2B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581912"/>
            <a:ext cx="299923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Simple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1984248"/>
            <a:ext cx="2999232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A truth table lists every possible input combination.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163044"/>
                </a:solidFill>
                <a:latin typeface="Aptos"/>
              </a:rPr>
              <a:t>Design assumptions and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15968"/>
            <a:ext cx="10058400" cy="1554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A3B44"/>
                </a:solidFill>
                <a:latin typeface="Aptos"/>
              </a:defRPr>
            </a:pPr>
            <a:r>
              <a:t>•  Inputs are already represented as clean digital 0/1 signals.</a:t>
            </a:r>
          </a:p>
          <a:p>
            <a:pPr>
              <a:spcAft>
                <a:spcPts val="800"/>
              </a:spcAft>
              <a:defRPr sz="1500">
                <a:solidFill>
                  <a:srgbClr val="2A3B44"/>
                </a:solidFill>
                <a:latin typeface="Aptos"/>
              </a:defRPr>
            </a:pPr>
            <a:r>
              <a:t>•  The circuit does not measure vital signs by itself; sensors and signal conditioning are outside this prototype.</a:t>
            </a:r>
          </a:p>
          <a:p>
            <a:pPr>
              <a:spcAft>
                <a:spcPts val="800"/>
              </a:spcAft>
              <a:defRPr sz="1500">
                <a:solidFill>
                  <a:srgbClr val="2A3B44"/>
                </a:solidFill>
                <a:latin typeface="Aptos"/>
              </a:defRPr>
            </a:pPr>
            <a:r>
              <a:t>•  No memory, timing, acknowledgement or fault monitoring is included.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63044"/>
                </a:solidFill>
                <a:latin typeface="Aptos"/>
              </a:rPr>
              <a:t>CO-wise achievement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7315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A8782"/>
                </a:solidFill>
                <a:latin typeface="Aptos"/>
              </a:rPr>
              <a:t>09 •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E8695B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87980"/>
                </a:solidFill>
                <a:latin typeface="Aptos"/>
              </a:rPr>
              <a:t>DIGITAL PATIENT EMERGENCY ALARM  •  COMBINATIONAL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98448"/>
            <a:ext cx="1097280" cy="502920"/>
          </a:xfrm>
          <a:prstGeom prst="round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371600"/>
            <a:ext cx="8961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Identified the emergency scenario and defined binary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1097280" cy="502920"/>
          </a:xfrm>
          <a:prstGeom prst="round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130552"/>
            <a:ext cx="8961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Created the truth table and Boolean equation A = E + V + 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816352"/>
            <a:ext cx="1097280" cy="502920"/>
          </a:xfrm>
          <a:prstGeom prst="round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89504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889504"/>
            <a:ext cx="8961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Implemented the function with OR 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75303"/>
            <a:ext cx="1097280" cy="502920"/>
          </a:xfrm>
          <a:prstGeom prst="round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48456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648456"/>
            <a:ext cx="8961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Used a simple, reduced expression with a standard logic block.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34256"/>
            <a:ext cx="1097280" cy="502920"/>
          </a:xfrm>
          <a:prstGeom prst="round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07408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407408"/>
            <a:ext cx="8961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Planned simulation checks across all eight input combinations.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93207"/>
            <a:ext cx="1097280" cy="502920"/>
          </a:xfrm>
          <a:prstGeom prst="round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66359"/>
            <a:ext cx="1005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166359"/>
            <a:ext cx="8961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Recognised limitations and possible real-world extensions.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875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63044"/>
                </a:solidFill>
                <a:latin typeface="Aptos"/>
              </a:rPr>
              <a:t>Applications and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7315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A8782"/>
                </a:solidFill>
                <a:latin typeface="Aptos"/>
              </a:rPr>
              <a:t>10 •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48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200" b="1">
                <a:solidFill>
                  <a:srgbClr val="E8695B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87980"/>
                </a:solidFill>
                <a:latin typeface="Aptos"/>
              </a:rPr>
              <a:t>DIGITAL PATIENT EMERGENCY ALARM  •  COMBINATIONAL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91440" cy="1828800"/>
          </a:xfrm>
          <a:prstGeom prst="rect">
            <a:avLst/>
          </a:prstGeom>
          <a:solidFill>
            <a:srgbClr val="1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81912"/>
            <a:ext cx="299923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Possible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2999232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Educational alert logic, lab demonstration and a simplified alarm 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91440" cy="1828800"/>
          </a:xfrm>
          <a:prstGeom prst="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581912"/>
            <a:ext cx="299923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Extensions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984248"/>
            <a:ext cx="2999232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Add separate alert outputs, priority levels, mute/acknowledge input or a display.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91440" cy="1828800"/>
          </a:xfrm>
          <a:prstGeom prst="rect">
            <a:avLst/>
          </a:prstGeom>
          <a:solidFill>
            <a:srgbClr val="F2B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581912"/>
            <a:ext cx="299923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3044"/>
                </a:solidFill>
                <a:latin typeface="Aptos"/>
              </a:rPr>
              <a:t>Validation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1984248"/>
            <a:ext cx="2999232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B44"/>
                </a:solidFill>
                <a:latin typeface="Aptos"/>
              </a:rPr>
              <a:t>Real deployment requires safe sensor interfaces, reliability testing and clinical/medical-device compliance.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69080"/>
            <a:ext cx="10515600" cy="1097280"/>
          </a:xfrm>
          <a:prstGeom prst="roundRect">
            <a:avLst/>
          </a:prstGeom>
          <a:solidFill>
            <a:srgbClr val="DD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279392"/>
            <a:ext cx="9966960" cy="685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163044"/>
                </a:solidFill>
                <a:latin typeface="Aptos"/>
              </a:rPr>
              <a:t>Important: this project demonstrates digital logic only. It must not be used to monitor or protect real patients.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0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070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4241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tos"/>
              </a:rPr>
              <a:t>A simple combinational circuit can combine multiple emergency signals into one clear alert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46120"/>
            <a:ext cx="3337560" cy="1234440"/>
          </a:xfrm>
          <a:prstGeom prst="roundRect">
            <a:avLst/>
          </a:prstGeom>
          <a:solidFill>
            <a:srgbClr val="24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01568"/>
            <a:ext cx="5486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F2BE53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3364992"/>
            <a:ext cx="233172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Inputs were defined as binary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246120"/>
            <a:ext cx="3337560" cy="1234440"/>
          </a:xfrm>
          <a:prstGeom prst="roundRect">
            <a:avLst/>
          </a:prstGeom>
          <a:solidFill>
            <a:srgbClr val="24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3401568"/>
            <a:ext cx="5486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F2BE5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3364992"/>
            <a:ext cx="233172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The Boolean rule and truth table were derived.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246120"/>
            <a:ext cx="3337560" cy="1234440"/>
          </a:xfrm>
          <a:prstGeom prst="roundRect">
            <a:avLst/>
          </a:prstGeom>
          <a:solidFill>
            <a:srgbClr val="24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3401568"/>
            <a:ext cx="5486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F2BE53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3364992"/>
            <a:ext cx="233172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The design can be implemented and verified in Logisim.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600" b="1">
                <a:solidFill>
                  <a:srgbClr val="F2BE53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